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a305239e9435a" /><Relationship Type="http://schemas.openxmlformats.org/officeDocument/2006/relationships/extended-properties" Target="/docProps/app.xml" Id="R25d972d00fdc40da" /><Relationship Type="http://schemas.openxmlformats.org/officeDocument/2006/relationships/officeDocument" Target="/ppt/presentation.xml" Id="R66f4c520343d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ffbf1a330346be"/>
  </p:sldMasterIdLst>
  <p:notesMasterIdLst>
    <p:notesMasterId xmlns:r="http://schemas.openxmlformats.org/officeDocument/2006/relationships" r:id="R2205240137364e16"/>
  </p:notesMasterIdLst>
  <p:sldIdLst>
    <p:sldId xmlns:r="http://schemas.openxmlformats.org/officeDocument/2006/relationships" id="256" r:id="R5fd4995da70a4d33"/>
    <p:sldId xmlns:r="http://schemas.openxmlformats.org/officeDocument/2006/relationships" id="257" r:id="R81a2e1bd0edc4373"/>
    <p:sldId xmlns:r="http://schemas.openxmlformats.org/officeDocument/2006/relationships" id="258" r:id="R4cc2eaa1876c4c08"/>
    <p:sldId xmlns:r="http://schemas.openxmlformats.org/officeDocument/2006/relationships" id="259" r:id="R6d3944f1cd494548"/>
    <p:sldId xmlns:r="http://schemas.openxmlformats.org/officeDocument/2006/relationships" id="260" r:id="R5085b28316424d69"/>
    <p:sldId xmlns:r="http://schemas.openxmlformats.org/officeDocument/2006/relationships" id="261" r:id="R627d020dc63f44c8"/>
    <p:sldId xmlns:r="http://schemas.openxmlformats.org/officeDocument/2006/relationships" id="262" r:id="R6700ed8a7859438a"/>
    <p:sldId xmlns:r="http://schemas.openxmlformats.org/officeDocument/2006/relationships" id="263" r:id="Rf5d1dc8b46594077"/>
    <p:sldId xmlns:r="http://schemas.openxmlformats.org/officeDocument/2006/relationships" id="264" r:id="Rae5581dff07f42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3f46abc8b840e2" /><Relationship Type="http://schemas.openxmlformats.org/officeDocument/2006/relationships/slideMaster" Target="/ppt/slideMasters/slideMaster1.xml" Id="R44ffbf1a330346be" /><Relationship Type="http://schemas.openxmlformats.org/officeDocument/2006/relationships/notesMaster" Target="/ppt/notesMasters/notesMaster1.xml" Id="R2205240137364e16" /><Relationship Type="http://schemas.openxmlformats.org/officeDocument/2006/relationships/presProps" Target="/ppt/presProps.xml" Id="R9c8f00262eb64eef" /><Relationship Type="http://schemas.openxmlformats.org/officeDocument/2006/relationships/tableStyles" Target="/ppt/tableStyles.xml" Id="Rf10d958cb5a845b6" /><Relationship Type="http://schemas.openxmlformats.org/officeDocument/2006/relationships/slide" Target="/ppt/slides/slide1.xml" Id="R5fd4995da70a4d33" /><Relationship Type="http://schemas.openxmlformats.org/officeDocument/2006/relationships/slide" Target="/ppt/slides/slide2.xml" Id="R81a2e1bd0edc4373" /><Relationship Type="http://schemas.openxmlformats.org/officeDocument/2006/relationships/slide" Target="/ppt/slides/slide3.xml" Id="R4cc2eaa1876c4c08" /><Relationship Type="http://schemas.openxmlformats.org/officeDocument/2006/relationships/slide" Target="/ppt/slides/slide4.xml" Id="R6d3944f1cd494548" /><Relationship Type="http://schemas.openxmlformats.org/officeDocument/2006/relationships/slide" Target="/ppt/slides/slide5.xml" Id="R5085b28316424d69" /><Relationship Type="http://schemas.openxmlformats.org/officeDocument/2006/relationships/slide" Target="/ppt/slides/slide6.xml" Id="R627d020dc63f44c8" /><Relationship Type="http://schemas.openxmlformats.org/officeDocument/2006/relationships/slide" Target="/ppt/slides/slide7.xml" Id="R6700ed8a7859438a" /><Relationship Type="http://schemas.openxmlformats.org/officeDocument/2006/relationships/slide" Target="/ppt/slides/slide8.xml" Id="Rf5d1dc8b46594077" /><Relationship Type="http://schemas.openxmlformats.org/officeDocument/2006/relationships/slide" Target="/ppt/slides/slide9.xml" Id="Rae5581dff07f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92b0007e1041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4fcce509d642c0" /><Relationship Type="http://schemas.openxmlformats.org/officeDocument/2006/relationships/notesMaster" Target="/ppt/notesMasters/notesMaster1.xml" Id="R3351450a7ce146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4dad7e676748b0" /><Relationship Type="http://schemas.openxmlformats.org/officeDocument/2006/relationships/notesMaster" Target="/ppt/notesMasters/notesMaster1.xml" Id="R2a35bc1b4e064a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2513e855e8474e" /><Relationship Type="http://schemas.openxmlformats.org/officeDocument/2006/relationships/notesMaster" Target="/ppt/notesMasters/notesMaster1.xml" Id="Re796cbda31234a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2bb31e420f401c" /><Relationship Type="http://schemas.openxmlformats.org/officeDocument/2006/relationships/notesMaster" Target="/ppt/notesMasters/notesMaster1.xml" Id="R9bfa6e3b7c554b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cabc36bc0442aa" /><Relationship Type="http://schemas.openxmlformats.org/officeDocument/2006/relationships/notesMaster" Target="/ppt/notesMasters/notesMaster1.xml" Id="R5e6917abad9a45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3ae0e882df452b" /><Relationship Type="http://schemas.openxmlformats.org/officeDocument/2006/relationships/notesMaster" Target="/ppt/notesMasters/notesMaster1.xml" Id="Rebf9a030cefc41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79a02292de426c" /><Relationship Type="http://schemas.openxmlformats.org/officeDocument/2006/relationships/notesMaster" Target="/ppt/notesMasters/notesMaster1.xml" Id="Rb48f03f69ba149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f2f35b23024681" /><Relationship Type="http://schemas.openxmlformats.org/officeDocument/2006/relationships/notesMaster" Target="/ppt/notesMasters/notesMaster1.xml" Id="R0f71eab9d53c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7cb36e0d454508" /><Relationship Type="http://schemas.openxmlformats.org/officeDocument/2006/relationships/notesMaster" Target="/ppt/notesMasters/notesMaster1.xml" Id="R4f1c0ba60600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 local du projet Motionest dans C:/Users/Home/Documents/Garmin coach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garmin_coach/garmin.py</a:t>
            </a:r>
          </a:p>
          <a:p xmlns:a="http://schemas.openxmlformats.org/drawingml/2006/main">
            <a:r>
              <a:t>- garmin_coach/dashboard.py</a:t>
            </a:r>
          </a:p>
          <a:p xmlns:a="http://schemas.openxmlformats.org/drawingml/2006/main">
            <a:r>
              <a:t>- garmin_coach/coach_chat.py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garmin_coach/garmin.py</a:t>
            </a:r>
          </a:p>
          <a:p xmlns:a="http://schemas.openxmlformats.org/drawingml/2006/main">
            <a:r>
              <a:t>- garmin_coach/onboarding.py</a:t>
            </a:r>
          </a:p>
          <a:p xmlns:a="http://schemas.openxmlformats.org/drawingml/2006/main">
            <a:r>
              <a:t>- garmin_coach/landing.html</a:t>
            </a:r>
          </a:p>
          <a:p xmlns:a="http://schemas.openxmlformats.org/drawingml/2006/main">
            <a:r>
              <a:t>- garmin_coach/dashboard_v2.html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garmin_coach/dashboard.py — coach_context()</a:t>
            </a:r>
          </a:p>
          <a:p xmlns:a="http://schemas.openxmlformats.org/drawingml/2006/main">
            <a:r>
              <a:t>- garmin_coach/activity_data.py</a:t>
            </a:r>
          </a:p>
          <a:p xmlns:a="http://schemas.openxmlformats.org/drawingml/2006/main">
            <a:r>
              <a:t>- garmin_coach/athlete_memory.py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garmin_coach/coach_chat.py — COACH_CHAT_INSTRUCTIONS</a:t>
            </a:r>
          </a:p>
          <a:p xmlns:a="http://schemas.openxmlformats.org/drawingml/2006/main">
            <a:r>
              <a:t>- Exemple utilisateur 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garmin_coach/coach_chat.py — CoachResponse, ObjectiveUpdate, SessionPatch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garmin_coach/dashboard_v2.html — applyCoachAction(), actionLabel()</a:t>
            </a:r>
          </a:p>
          <a:p xmlns:a="http://schemas.openxmlformats.org/drawingml/2006/main">
            <a:r>
              <a:t>- garmin_coach/dashboard.py — /api/coach/action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garmin_coach/landing.html</a:t>
            </a:r>
          </a:p>
          <a:p xmlns:a="http://schemas.openxmlformats.org/drawingml/2006/main">
            <a:r>
              <a:t>- garmin_coach/dashboard.py</a:t>
            </a:r>
          </a:p>
          <a:p xmlns:a="http://schemas.openxmlformats.org/drawingml/2006/main">
            <a:r>
              <a:t>- garmin_coach/coach_chat.py</a:t>
            </a:r>
          </a:p>
          <a:p xmlns:a="http://schemas.openxmlformats.org/drawingml/2006/main">
            <a:r>
              <a:t>- garmin_coach/dashboard_v2.html</a:t>
            </a:r>
          </a:p>
          <a:p xmlns:a="http://schemas.openxmlformats.org/drawingml/2006/main">
            <a:r>
              <a:t>- garmin_coach/garmin_workouts.py</a:t>
            </a:r>
          </a:p>
          <a:p xmlns:a="http://schemas.openxmlformats.org/drawingml/2006/main">
            <a:r>
              <a:t>- garmin_coach/onboarding.py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Synthèse du code local Motionest et des corrections validées par la suite de 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9f79a40e243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8f29315ecf478a" /><Relationship Type="http://schemas.openxmlformats.org/officeDocument/2006/relationships/slideLayout" Target="/ppt/slideLayouts/slideLayout1.xml" Id="Ra46de3c7799b42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6de3c7799b42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3fbcc46bf41e8" /><Relationship Type="http://schemas.openxmlformats.org/officeDocument/2006/relationships/notesSlide" Target="/ppt/notesSlides/notesSlide1.xml" Id="Rbe62ea2835d042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3128b787b4518" /><Relationship Type="http://schemas.openxmlformats.org/officeDocument/2006/relationships/notesSlide" Target="/ppt/notesSlides/notesSlide2.xml" Id="Ree23a3d361e0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63881a9a04dea" /><Relationship Type="http://schemas.openxmlformats.org/officeDocument/2006/relationships/notesSlide" Target="/ppt/notesSlides/notesSlide3.xml" Id="Rd1f3e300459e46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52d2d3d5349e6" /><Relationship Type="http://schemas.openxmlformats.org/officeDocument/2006/relationships/notesSlide" Target="/ppt/notesSlides/notesSlide4.xml" Id="R493809222b63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6a38e6ae847fb" /><Relationship Type="http://schemas.openxmlformats.org/officeDocument/2006/relationships/notesSlide" Target="/ppt/notesSlides/notesSlide5.xml" Id="R54caa86f49484c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90a4c203a4ff5" /><Relationship Type="http://schemas.openxmlformats.org/officeDocument/2006/relationships/notesSlide" Target="/ppt/notesSlides/notesSlide6.xml" Id="R5df81be755a240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9685a8b8d483a" /><Relationship Type="http://schemas.openxmlformats.org/officeDocument/2006/relationships/notesSlide" Target="/ppt/notesSlides/notesSlide7.xml" Id="Raa626c6d79884a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7c57de17c41bd" /><Relationship Type="http://schemas.openxmlformats.org/officeDocument/2006/relationships/notesSlide" Target="/ppt/notesSlides/notesSlide8.xml" Id="R97b761b186d74f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d0c08c62f48f2" /><Relationship Type="http://schemas.openxmlformats.org/officeDocument/2006/relationships/notesSlide" Target="/ppt/notesSlides/notesSlide9.xml" Id="Rfe74b6a104ea48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1CE73443-ECF2-46B4-B6FE-CCF6E96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/ GARMIN COACH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F1B8F7C-7179-4498-9D14-10220B6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Comment le coach fonctionne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D325704-0A86-425D-BBCA-38F138D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Lecture utilisateur + lecture développeur</a:t>
            </a:r>
          </a:p>
        </p:txBody>
      </p:sp>
      <p:sp>
        <p:nvSpPr>
          <p:cNvPr id="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72F0BEB-663C-4930-956F-C337687A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014E31BD-6493-4E7D-9306-A80E72A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Connexion Garmin · contexte IA · style de réponse · actions confirmées · architecture du code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38733D89-C967-4823-AB8E-642B4F40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État du projet · août 2026</a:t>
            </a:r>
          </a:p>
        </p:txBody>
      </p:sp>
    </p:spTree>
    <p:extLst>
      <p:ext uri="{BB962C8B-B14F-4D97-AF65-F5344CB8AC3E}">
        <p14:creationId xmlns:p14="http://schemas.microsoft.com/office/powerpoint/2010/main" val="2060465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B64A037-31F1-43F1-8559-2217AEE3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· DÉBRIEF FONCTIONNEL &amp; DEV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001544-D7B8-4A67-96FC-5529E903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47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Le coach transforme des données en propositions confirmables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68FECAD-3B75-4592-B2B5-3BB007A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23" name="flow-0"/>
          <p:cNvCxnSpPr/>
          <p:nvPr/>
        </p:nvCxnSpPr>
        <p:spPr>
          <a:xfrm xmlns:a="http://schemas.openxmlformats.org/drawingml/2006/main">
            <a:off x="2476500" y="3333750"/>
            <a:ext cx="6953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A52"/>
            </a:solidFill>
            <a:prstDash val="solid"/>
          </a:ln>
        </p:spPr>
      </p:cxnSp>
      <p:cxnSp>
        <p:nvCxnSpPr>
          <p:cNvPr id="24" name="flow-1"/>
          <p:cNvCxnSpPr/>
          <p:nvPr/>
        </p:nvCxnSpPr>
        <p:spPr>
          <a:xfrm xmlns:a="http://schemas.openxmlformats.org/drawingml/2006/main">
            <a:off x="5191125" y="3333750"/>
            <a:ext cx="6953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A52"/>
            </a:solidFill>
            <a:prstDash val="solid"/>
          </a:ln>
        </p:spPr>
      </p:cxnSp>
      <p:cxnSp>
        <p:nvCxnSpPr>
          <p:cNvPr id="25" name="flow-2"/>
          <p:cNvCxnSpPr/>
          <p:nvPr/>
        </p:nvCxnSpPr>
        <p:spPr>
          <a:xfrm xmlns:a="http://schemas.openxmlformats.org/drawingml/2006/main">
            <a:off x="7905750" y="3333750"/>
            <a:ext cx="6953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A52"/>
            </a:solidFill>
            <a:prstDash val="solid"/>
          </a:ln>
        </p:spPr>
      </p:cxnSp>
      <p:sp>
        <p:nvSpPr>
          <p:cNvPr id="7" name="node-0">
            <a:extLst xmlns:a="http://schemas.openxmlformats.org/drawingml/2006/main">
              <a:ext uri="{FF2B5EF4-FFF2-40B4-BE49-F238E27FC236}">
                <a16:creationId xmlns:a16="http://schemas.microsoft.com/office/drawing/2014/main" id="{006132A0-174F-452C-9537-E337B677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head-0">
            <a:extLst xmlns:a="http://schemas.openxmlformats.org/drawingml/2006/main">
              <a:ext uri="{FF2B5EF4-FFF2-40B4-BE49-F238E27FC236}">
                <a16:creationId xmlns:a16="http://schemas.microsoft.com/office/drawing/2014/main" id="{77402C46-9A59-4BA8-9D52-6343155D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1 · CONNECTER</a:t>
            </a:r>
          </a:p>
        </p:txBody>
      </p:sp>
      <p:sp>
        <p:nvSpPr>
          <p:cNvPr id="9" name="node-body-0">
            <a:extLst xmlns:a="http://schemas.openxmlformats.org/drawingml/2006/main">
              <a:ext uri="{FF2B5EF4-FFF2-40B4-BE49-F238E27FC236}">
                <a16:creationId xmlns:a16="http://schemas.microsoft.com/office/drawing/2014/main" id="{5168952B-A913-48BB-BA09-F71D7CBA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Garmin authentifie le compte, y compris le code reçu par e-mail.</a:t>
            </a:r>
          </a:p>
        </p:txBody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053829DD-44C6-445C-BF46-AC012C5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-head-1">
            <a:extLst xmlns:a="http://schemas.openxmlformats.org/drawingml/2006/main">
              <a:ext uri="{FF2B5EF4-FFF2-40B4-BE49-F238E27FC236}">
                <a16:creationId xmlns:a16="http://schemas.microsoft.com/office/drawing/2014/main" id="{8E9371A0-9E56-4C0E-817D-09AF92E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2 · COMPRENDRE</a:t>
            </a:r>
          </a:p>
        </p:txBody>
      </p:sp>
      <p:sp>
        <p:nvSpPr>
          <p:cNvPr id="12" name="node-body-1">
            <a:extLst xmlns:a="http://schemas.openxmlformats.org/drawingml/2006/main">
              <a:ext uri="{FF2B5EF4-FFF2-40B4-BE49-F238E27FC236}">
                <a16:creationId xmlns:a16="http://schemas.microsoft.com/office/drawing/2014/main" id="{0918FEC1-B6E2-465B-872B-F5558E0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6230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L’application importe l’historique et complète ce que Garmin ne sait pas.</a:t>
            </a:r>
          </a:p>
        </p:txBody>
      </p:sp>
      <p:sp>
        <p:nvSpPr>
          <p:cNvPr id="13" name="node-2">
            <a:extLst xmlns:a="http://schemas.openxmlformats.org/drawingml/2006/main">
              <a:ext uri="{FF2B5EF4-FFF2-40B4-BE49-F238E27FC236}">
                <a16:creationId xmlns:a16="http://schemas.microsoft.com/office/drawing/2014/main" id="{724F2765-A2C5-488B-BEB0-1EEF797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de-head-2">
            <a:extLst xmlns:a="http://schemas.openxmlformats.org/drawingml/2006/main">
              <a:ext uri="{FF2B5EF4-FFF2-40B4-BE49-F238E27FC236}">
                <a16:creationId xmlns:a16="http://schemas.microsoft.com/office/drawing/2014/main" id="{62C465BB-2C98-4786-81BE-24F30A55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3 · DISCUTER</a:t>
            </a:r>
          </a:p>
        </p:txBody>
      </p:sp>
      <p:sp>
        <p:nvSpPr>
          <p:cNvPr id="15" name="node-body-2">
            <a:extLst xmlns:a="http://schemas.openxmlformats.org/drawingml/2006/main">
              <a:ext uri="{FF2B5EF4-FFF2-40B4-BE49-F238E27FC236}">
                <a16:creationId xmlns:a16="http://schemas.microsoft.com/office/drawing/2014/main" id="{BFB3AE5D-B75B-412A-BE3F-E25D90F0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L’IA reçoit un contexte compact et répond selon un contrat structuré.</a:t>
            </a:r>
          </a:p>
        </p:txBody>
      </p:sp>
      <p:sp>
        <p:nvSpPr>
          <p:cNvPr id="16" name="node-3">
            <a:extLst xmlns:a="http://schemas.openxmlformats.org/drawingml/2006/main">
              <a:ext uri="{FF2B5EF4-FFF2-40B4-BE49-F238E27FC236}">
                <a16:creationId xmlns:a16="http://schemas.microsoft.com/office/drawing/2014/main" id="{E3618C89-6934-4D0A-9368-5E555EC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28900"/>
            <a:ext cx="200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head-3">
            <a:extLst xmlns:a="http://schemas.openxmlformats.org/drawingml/2006/main">
              <a:ext uri="{FF2B5EF4-FFF2-40B4-BE49-F238E27FC236}">
                <a16:creationId xmlns:a16="http://schemas.microsoft.com/office/drawing/2014/main" id="{7B42186E-B0AF-4F87-ACD6-17DEF52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81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4 · APPLIQUER</a:t>
            </a:r>
          </a:p>
        </p:txBody>
      </p:sp>
      <p:sp>
        <p:nvSpPr>
          <p:cNvPr id="18" name="node-body-3">
            <a:extLst xmlns:a="http://schemas.openxmlformats.org/drawingml/2006/main">
              <a:ext uri="{FF2B5EF4-FFF2-40B4-BE49-F238E27FC236}">
                <a16:creationId xmlns:a16="http://schemas.microsoft.com/office/drawing/2014/main" id="{043CE1AE-6572-4726-83BB-5147F62E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62300"/>
            <a:ext cx="1695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Une action sensible devient un bouton ; le serveur agit seulement après le clic.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882EF4B6-1A1C-4EF6-AD08-73ADF2F4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Idée clé : l’IA propose et explique ; le code valide, persiste et synchronise.</a:t>
            </a:r>
          </a:p>
        </p:txBody>
      </p:sp>
    </p:spTree>
    <p:extLst>
      <p:ext uri="{BB962C8B-B14F-4D97-AF65-F5344CB8AC3E}">
        <p14:creationId xmlns:p14="http://schemas.microsoft.com/office/powerpoint/2010/main" val="278856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362607-1650-48E5-9F5E-37B17B6B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· DÉBRIEF FONCTIONNEL &amp; DEV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8B0F08-3A5D-4AA2-B360-1B239457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La première utilisation suit trois transitions distinctes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D36D8DD-8CFA-428D-A6E8-D4CE914E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k-0">
            <a:extLst xmlns:a="http://schemas.openxmlformats.org/drawingml/2006/main">
              <a:ext uri="{FF2B5EF4-FFF2-40B4-BE49-F238E27FC236}">
                <a16:creationId xmlns:a16="http://schemas.microsoft.com/office/drawing/2014/main" id="{758AC2BB-BD4E-4EF9-8064-5EB839B0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CONNEXION</a:t>
            </a:r>
          </a:p>
        </p:txBody>
      </p:sp>
      <p:sp>
        <p:nvSpPr>
          <p:cNvPr id="5" name="h-0">
            <a:extLst xmlns:a="http://schemas.openxmlformats.org/drawingml/2006/main">
              <a:ext uri="{FF2B5EF4-FFF2-40B4-BE49-F238E27FC236}">
                <a16:creationId xmlns:a16="http://schemas.microsoft.com/office/drawing/2014/main" id="{9A1E4F2C-9386-476A-96D8-52E5FF0B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E-mail + mot de passe</a:t>
            </a:r>
          </a:p>
        </p:txBody>
      </p:sp>
      <p:sp>
        <p:nvSpPr>
          <p:cNvPr id="6" name="b-0">
            <a:extLst xmlns:a="http://schemas.openxmlformats.org/drawingml/2006/main">
              <a:ext uri="{FF2B5EF4-FFF2-40B4-BE49-F238E27FC236}">
                <a16:creationId xmlns:a16="http://schemas.microsoft.com/office/drawing/2014/main" id="{6A0FE411-188F-4612-95D9-DF25D9A4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Si Garmin déclenche la double vérification, le formulaire révèle le champ du code e-mail.</a:t>
            </a:r>
          </a:p>
        </p:txBody>
      </p:sp>
      <p:sp>
        <p:nvSpPr>
          <p:cNvPr id="7" name="k-1">
            <a:extLst xmlns:a="http://schemas.openxmlformats.org/drawingml/2006/main">
              <a:ext uri="{FF2B5EF4-FFF2-40B4-BE49-F238E27FC236}">
                <a16:creationId xmlns:a16="http://schemas.microsoft.com/office/drawing/2014/main" id="{124B78CD-6767-4C45-ADF9-82367A4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QUESTIONNAIRE</a:t>
            </a:r>
          </a:p>
        </p:txBody>
      </p:sp>
      <p:sp>
        <p:nvSpPr>
          <p:cNvPr id="8" name="h-1">
            <a:extLst xmlns:a="http://schemas.openxmlformats.org/drawingml/2006/main">
              <a:ext uri="{FF2B5EF4-FFF2-40B4-BE49-F238E27FC236}">
                <a16:creationId xmlns:a16="http://schemas.microsoft.com/office/drawing/2014/main" id="{810E92EF-3A28-4E4D-AD75-04A8B397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Objectif + contraintes</a:t>
            </a:r>
          </a:p>
        </p:txBody>
      </p:sp>
      <p:sp>
        <p:nvSpPr>
          <p:cNvPr id="9" name="b-1">
            <a:extLst xmlns:a="http://schemas.openxmlformats.org/drawingml/2006/main">
              <a:ext uri="{FF2B5EF4-FFF2-40B4-BE49-F238E27FC236}">
                <a16:creationId xmlns:a16="http://schemas.microsoft.com/office/drawing/2014/main" id="{A47153B4-6DEC-49AE-8EC7-93C35215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Distance, date, fréquence, jours disponibles, préférences et douleur éventuelle complètent Garmin.</a:t>
            </a:r>
          </a:p>
        </p:txBody>
      </p:sp>
      <p:sp>
        <p:nvSpPr>
          <p:cNvPr id="10" name="k-2">
            <a:extLst xmlns:a="http://schemas.openxmlformats.org/drawingml/2006/main">
              <a:ext uri="{FF2B5EF4-FFF2-40B4-BE49-F238E27FC236}">
                <a16:creationId xmlns:a16="http://schemas.microsoft.com/office/drawing/2014/main" id="{18643913-C5B1-4D8D-B0D5-DF9D6617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11" name="h-2">
            <a:extLst xmlns:a="http://schemas.openxmlformats.org/drawingml/2006/main">
              <a:ext uri="{FF2B5EF4-FFF2-40B4-BE49-F238E27FC236}">
                <a16:creationId xmlns:a16="http://schemas.microsoft.com/office/drawing/2014/main" id="{B5F50110-68B5-4919-9C2C-F16D2232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Séances adaptées</a:t>
            </a:r>
          </a:p>
        </p:txBody>
      </p:sp>
      <p:sp>
        <p:nvSpPr>
          <p:cNvPr id="12" name="b-2">
            <a:extLst xmlns:a="http://schemas.openxmlformats.org/drawingml/2006/main">
              <a:ext uri="{FF2B5EF4-FFF2-40B4-BE49-F238E27FC236}">
                <a16:creationId xmlns:a16="http://schemas.microsoft.com/office/drawing/2014/main" id="{4E16BA37-917D-4DE4-9FF2-37EA99DD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Le coach ouvre une discussion de préparation sans afficher immédiatement l’analyse détaillée des courses.</a:t>
            </a:r>
          </a:p>
        </p:txBody>
      </p:sp>
      <p:sp>
        <p:nvSpPr>
          <p:cNvPr id="13" name="state-strip">
            <a:extLst xmlns:a="http://schemas.openxmlformats.org/drawingml/2006/main">
              <a:ext uri="{FF2B5EF4-FFF2-40B4-BE49-F238E27FC236}">
                <a16:creationId xmlns:a16="http://schemas.microsoft.com/office/drawing/2014/main" id="{6975B8BC-44FC-4D45-9D4B-7237FB9A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9525">
            <a:solidFill>
              <a:srgbClr val="B8C2BC"/>
            </a:solidFill>
            <a:prstDash val="solid"/>
          </a:ln>
        </p:spPr>
      </p:sp>
      <p:sp>
        <p:nvSpPr>
          <p:cNvPr id="14" name="states">
            <a:extLst xmlns:a="http://schemas.openxmlformats.org/drawingml/2006/main">
              <a:ext uri="{FF2B5EF4-FFF2-40B4-BE49-F238E27FC236}">
                <a16:creationId xmlns:a16="http://schemas.microsoft.com/office/drawing/2014/main" id="{F22B368D-0665-421C-98B8-A23356E5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États internes :  not_started  →  needs_profile  →  ready  →  plan_proposed  →  complete</a:t>
            </a:r>
          </a:p>
        </p:txBody>
      </p:sp>
    </p:spTree>
    <p:extLst>
      <p:ext uri="{BB962C8B-B14F-4D97-AF65-F5344CB8AC3E}">
        <p14:creationId xmlns:p14="http://schemas.microsoft.com/office/powerpoint/2010/main" val="1271102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3D9D9C3-4E8F-498C-BA89-699FEC52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· DÉBRIEF FONCTIONNEL &amp; DEV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D4CF1A-B916-4BFD-A31A-D33D9268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8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L’IA ne reçoit pas Garmin brut : elle reçoit un contexte sportif ciblé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F19CED4-A7EC-4FF6-A0A2-DBC8767B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h1">
            <a:extLst xmlns:a="http://schemas.openxmlformats.org/drawingml/2006/main">
              <a:ext uri="{FF2B5EF4-FFF2-40B4-BE49-F238E27FC236}">
                <a16:creationId xmlns:a16="http://schemas.microsoft.com/office/drawing/2014/main" id="{E50C9E49-D6B9-4FCA-B44E-940D3C20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CHAMP</a:t>
            </a:r>
          </a:p>
        </p:txBody>
      </p:sp>
      <p:sp>
        <p:nvSpPr>
          <p:cNvPr id="5" name="th2">
            <a:extLst xmlns:a="http://schemas.openxmlformats.org/drawingml/2006/main">
              <a:ext uri="{FF2B5EF4-FFF2-40B4-BE49-F238E27FC236}">
                <a16:creationId xmlns:a16="http://schemas.microsoft.com/office/drawing/2014/main" id="{79A6AC87-E4A3-45A5-943A-B92B92E2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CE QUE LE COACH PEUT EN FAIRE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13F1D8ED-1785-439F-82E2-1FCC56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0">
            <a:extLst xmlns:a="http://schemas.openxmlformats.org/drawingml/2006/main">
              <a:ext uri="{FF2B5EF4-FFF2-40B4-BE49-F238E27FC236}">
                <a16:creationId xmlns:a16="http://schemas.microsoft.com/office/drawing/2014/main" id="{906F6DA7-8946-4C8E-A4B0-546A0B5C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objectif</a:t>
            </a:r>
          </a:p>
        </p:txBody>
      </p:sp>
      <p:sp>
        <p:nvSpPr>
          <p:cNvPr id="8" name="val-0">
            <a:extLst xmlns:a="http://schemas.openxmlformats.org/drawingml/2006/main">
              <a:ext uri="{FF2B5EF4-FFF2-40B4-BE49-F238E27FC236}">
                <a16:creationId xmlns:a16="http://schemas.microsoft.com/office/drawing/2014/main" id="{E7E0E1C9-1FDE-44CE-A4C1-356705B5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Titre, distance, date, séances/semaine, disponibilités, contraintes</a:t>
            </a:r>
          </a:p>
        </p:txBody>
      </p:sp>
      <p:sp>
        <p:nvSpPr>
          <p:cNvPr id="9" name="key-1">
            <a:extLst xmlns:a="http://schemas.openxmlformats.org/drawingml/2006/main">
              <a:ext uri="{FF2B5EF4-FFF2-40B4-BE49-F238E27FC236}">
                <a16:creationId xmlns:a16="http://schemas.microsoft.com/office/drawing/2014/main" id="{8B3BB802-36BD-4DB6-9F54-B75D9A8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plan_actif</a:t>
            </a:r>
          </a:p>
        </p:txBody>
      </p:sp>
      <p:sp>
        <p:nvSpPr>
          <p:cNvPr id="10" name="val-1">
            <a:extLst xmlns:a="http://schemas.openxmlformats.org/drawingml/2006/main">
              <a:ext uri="{FF2B5EF4-FFF2-40B4-BE49-F238E27FC236}">
                <a16:creationId xmlns:a16="http://schemas.microsoft.com/office/drawing/2014/main" id="{2AA9875C-9075-4D7F-8137-411CA9D9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Dates, titres, types, objectifs, durées, statut — sans secrets Garmin</a:t>
            </a:r>
          </a:p>
        </p:txBody>
      </p:sp>
      <p:sp>
        <p:nvSpPr>
          <p:cNvPr id="11" name="row-2">
            <a:extLst xmlns:a="http://schemas.openxmlformats.org/drawingml/2006/main">
              <a:ext uri="{FF2B5EF4-FFF2-40B4-BE49-F238E27FC236}">
                <a16:creationId xmlns:a16="http://schemas.microsoft.com/office/drawing/2014/main" id="{3BC07FA6-EBD6-4EE7-BA9B-BAF7630C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key-2">
            <a:extLst xmlns:a="http://schemas.openxmlformats.org/drawingml/2006/main">
              <a:ext uri="{FF2B5EF4-FFF2-40B4-BE49-F238E27FC236}">
                <a16:creationId xmlns:a16="http://schemas.microsoft.com/office/drawing/2014/main" id="{3AC67066-A1A6-4B50-BC66-2E13A1A2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courses_recentes</a:t>
            </a:r>
          </a:p>
        </p:txBody>
      </p:sp>
      <p:sp>
        <p:nvSpPr>
          <p:cNvPr id="13" name="val-2">
            <a:extLst xmlns:a="http://schemas.openxmlformats.org/drawingml/2006/main">
              <a:ext uri="{FF2B5EF4-FFF2-40B4-BE49-F238E27FC236}">
                <a16:creationId xmlns:a16="http://schemas.microsoft.com/office/drawing/2014/main" id="{B714E58A-6308-466D-A411-102904B6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Cinq activités publiques récentes, sans analyse jointe ni coordonnées GPS</a:t>
            </a:r>
          </a:p>
        </p:txBody>
      </p:sp>
      <p:sp>
        <p:nvSpPr>
          <p:cNvPr id="14" name="key-3">
            <a:extLst xmlns:a="http://schemas.openxmlformats.org/drawingml/2006/main">
              <a:ext uri="{FF2B5EF4-FFF2-40B4-BE49-F238E27FC236}">
                <a16:creationId xmlns:a16="http://schemas.microsoft.com/office/drawing/2014/main" id="{901C3A69-3EC9-4162-99A0-ADD562FF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trace_sportive</a:t>
            </a:r>
          </a:p>
        </p:txBody>
      </p:sp>
      <p:sp>
        <p:nvSpPr>
          <p:cNvPr id="15" name="val-3">
            <a:extLst xmlns:a="http://schemas.openxmlformats.org/drawingml/2006/main">
              <a:ext uri="{FF2B5EF4-FFF2-40B4-BE49-F238E27FC236}">
                <a16:creationId xmlns:a16="http://schemas.microsoft.com/office/drawing/2014/main" id="{70612E12-C07B-4910-8C7D-0BD70AF1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Totaux et tendances sur 28/90 jours et ensemble de l’historique</a:t>
            </a:r>
          </a:p>
        </p:txBody>
      </p:sp>
      <p:sp>
        <p:nvSpPr>
          <p:cNvPr id="16" name="row-4">
            <a:extLst xmlns:a="http://schemas.openxmlformats.org/drawingml/2006/main">
              <a:ext uri="{FF2B5EF4-FFF2-40B4-BE49-F238E27FC236}">
                <a16:creationId xmlns:a16="http://schemas.microsoft.com/office/drawing/2014/main" id="{FA150832-DA51-4CE4-939C-4498DA92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-4">
            <a:extLst xmlns:a="http://schemas.openxmlformats.org/drawingml/2006/main">
              <a:ext uri="{FF2B5EF4-FFF2-40B4-BE49-F238E27FC236}">
                <a16:creationId xmlns:a16="http://schemas.microsoft.com/office/drawing/2014/main" id="{6891F21B-1A96-4AA9-85B8-E97F4877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memoire_coureur</a:t>
            </a:r>
          </a:p>
        </p:txBody>
      </p:sp>
      <p:sp>
        <p:nvSpPr>
          <p:cNvPr id="18" name="val-4">
            <a:extLst xmlns:a="http://schemas.openxmlformats.org/drawingml/2006/main">
              <a:ext uri="{FF2B5EF4-FFF2-40B4-BE49-F238E27FC236}">
                <a16:creationId xmlns:a16="http://schemas.microsoft.com/office/drawing/2014/main" id="{C865C305-9372-432F-8EAF-458F9633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Faits durables explicitement déclarés par l’utilisateur</a:t>
            </a:r>
          </a:p>
        </p:txBody>
      </p:sp>
      <p:sp>
        <p:nvSpPr>
          <p:cNvPr id="19" name="key-5">
            <a:extLst xmlns:a="http://schemas.openxmlformats.org/drawingml/2006/main">
              <a:ext uri="{FF2B5EF4-FFF2-40B4-BE49-F238E27FC236}">
                <a16:creationId xmlns:a16="http://schemas.microsoft.com/office/drawing/2014/main" id="{C2679E1A-9BC6-4368-9440-EB11B491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conversation_recente</a:t>
            </a:r>
          </a:p>
        </p:txBody>
      </p:sp>
      <p:sp>
        <p:nvSpPr>
          <p:cNvPr id="20" name="val-5">
            <a:extLst xmlns:a="http://schemas.openxmlformats.org/drawingml/2006/main">
              <a:ext uri="{FF2B5EF4-FFF2-40B4-BE49-F238E27FC236}">
                <a16:creationId xmlns:a16="http://schemas.microsoft.com/office/drawing/2014/main" id="{675784CF-21F0-404F-9220-7132C4E1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Douze derniers échanges utiles, avec action et état d’application</a:t>
            </a:r>
          </a:p>
        </p:txBody>
      </p:sp>
      <p:sp>
        <p:nvSpPr>
          <p:cNvPr id="21" name="row-6">
            <a:extLst xmlns:a="http://schemas.openxmlformats.org/drawingml/2006/main">
              <a:ext uri="{FF2B5EF4-FFF2-40B4-BE49-F238E27FC236}">
                <a16:creationId xmlns:a16="http://schemas.microsoft.com/office/drawing/2014/main" id="{23FFFEBF-020F-4CFE-9897-EE4F4F99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-6">
            <a:extLst xmlns:a="http://schemas.openxmlformats.org/drawingml/2006/main">
              <a:ext uri="{FF2B5EF4-FFF2-40B4-BE49-F238E27FC236}">
                <a16:creationId xmlns:a16="http://schemas.microsoft.com/office/drawing/2014/main" id="{492D8FFE-3E7A-4992-8199-0E2A212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onboarding + date</a:t>
            </a:r>
          </a:p>
        </p:txBody>
      </p:sp>
      <p:sp>
        <p:nvSpPr>
          <p:cNvPr id="23" name="val-6">
            <a:extLst xmlns:a="http://schemas.openxmlformats.org/drawingml/2006/main">
              <a:ext uri="{FF2B5EF4-FFF2-40B4-BE49-F238E27FC236}">
                <a16:creationId xmlns:a16="http://schemas.microsoft.com/office/drawing/2014/main" id="{9B368467-EF12-4E81-B0EE-2510C7C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État du parcours initial et date courante pour comprendre « ce mercredi »</a:t>
            </a:r>
          </a:p>
        </p:txBody>
      </p:sp>
      <p:sp>
        <p:nvSpPr>
          <p:cNvPr id="24" name="privacy">
            <a:extLst xmlns:a="http://schemas.openxmlformats.org/drawingml/2006/main">
              <a:ext uri="{FF2B5EF4-FFF2-40B4-BE49-F238E27FC236}">
                <a16:creationId xmlns:a16="http://schemas.microsoft.com/office/drawing/2014/main" id="{02535D70-EC62-4AEB-A751-6574F76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Sécurité : mots de passe, jetons et données GPS ne font pas partie du prompt conversationnel.</a:t>
            </a:r>
          </a:p>
        </p:txBody>
      </p:sp>
    </p:spTree>
    <p:extLst>
      <p:ext uri="{BB962C8B-B14F-4D97-AF65-F5344CB8AC3E}">
        <p14:creationId xmlns:p14="http://schemas.microsoft.com/office/powerpoint/2010/main" val="1515568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970276B-AADF-416E-AF20-55488098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· DÉBRIEF FONCTIONNEL &amp; DEV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C50526-27F4-4C9B-820B-AA4DA9B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Sa façon de parler est définie avant chaque réponse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78B9530-962A-416E-9724-82606252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23D891D3-2934-4BCF-B7DC-81FF01FB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CE QU’IL DOIT FAIRE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2433581C-2E55-41B2-A4B7-DD7CF097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AF0D438F-09DB-41F6-AB32-2807B552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Répondre en français, clairement et en moins de 180 mots.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6EE16793-9D45-44E9-A0C5-A6D94F0B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7BFA639-9320-452E-9861-23529140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Partir du plan actif et des données disponibles, sans inventer.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2DD0D2FF-4000-4422-9A4B-9E34261A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8AB2B20-C9B6-436C-8DA2-95107F6C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Répondre d’abord à la demande ; poser une seule question si elle est indispensable.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2352CE27-B7DE-4153-BE14-EB1FA725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AF837A10-4E8C-485E-A78B-BCC27098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Présenter toute modification comme une proposition à confirmer.</a:t>
            </a:r>
          </a:p>
        </p:txBody>
      </p:sp>
      <p:sp>
        <p:nvSpPr>
          <p:cNvPr id="13" name="right-head">
            <a:extLst xmlns:a="http://schemas.openxmlformats.org/drawingml/2006/main">
              <a:ext uri="{FF2B5EF4-FFF2-40B4-BE49-F238E27FC236}">
                <a16:creationId xmlns:a16="http://schemas.microsoft.com/office/drawing/2014/main" id="{887F08FD-CC90-4CD4-B464-56A07908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4A5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4A55"/>
                </a:solidFill>
                <a:latin typeface="Arial"/>
                <a:ea typeface="Arial"/>
                <a:cs typeface="Arial"/>
              </a:rPr>
              <a:t>CE QU’IL DOIT ÉVITER</a:t>
            </a:r>
          </a:p>
        </p:txBody>
      </p:sp>
      <p:sp>
        <p:nvSpPr>
          <p:cNvPr id="14" name="bullet-0">
            <a:extLst xmlns:a="http://schemas.openxmlformats.org/drawingml/2006/main">
              <a:ext uri="{FF2B5EF4-FFF2-40B4-BE49-F238E27FC236}">
                <a16:creationId xmlns:a16="http://schemas.microsoft.com/office/drawing/2014/main" id="{CAE3AEBF-4517-4ECB-AEF6-BFA1F32A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F31F8BB-0979-4D83-A2D1-55C260F3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4312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Répéter les mêmes chiffres ou avertissements dans plusieurs réponses.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387F739C-8072-4E74-B49E-D9439A0C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2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7B5A522-6F9B-4DE7-8C79-5D7D886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4797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Redemander une information déjà donnée ou une confirmation textuelle inutile.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98C7AA0C-2542-4C0D-8A66-C199EEDA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BE0A1EA-78C5-4A04-9A70-EFC6788B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5282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Prétendre qu’une séance est appliquée avant le clic dans l’application.</a:t>
            </a:r>
          </a:p>
        </p:txBody>
      </p:sp>
      <p:sp>
        <p:nvSpPr>
          <p:cNvPr id="20" name="bullet-3">
            <a:extLst xmlns:a="http://schemas.openxmlformats.org/drawingml/2006/main">
              <a:ext uri="{FF2B5EF4-FFF2-40B4-BE49-F238E27FC236}">
                <a16:creationId xmlns:a16="http://schemas.microsoft.com/office/drawing/2014/main" id="{F34F6404-A202-45C7-BF2C-71BB8AA9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50F9473B-7D8D-46AA-9A60-5FE85736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5767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Modifier les connexions, permissions, clés API ou règles de sécurité.</a:t>
            </a:r>
          </a:p>
        </p:txBody>
      </p:sp>
      <p:sp>
        <p:nvSpPr>
          <p:cNvPr id="22" name="quote">
            <a:extLst xmlns:a="http://schemas.openxmlformats.org/drawingml/2006/main">
              <a:ext uri="{FF2B5EF4-FFF2-40B4-BE49-F238E27FC236}">
                <a16:creationId xmlns:a16="http://schemas.microsoft.com/office/drawing/2014/main" id="{914B9D89-5FBE-40CF-B24A-E30B86EC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quote-text">
            <a:extLst xmlns:a="http://schemas.openxmlformats.org/drawingml/2006/main">
              <a:ext uri="{FF2B5EF4-FFF2-40B4-BE49-F238E27FC236}">
                <a16:creationId xmlns:a16="http://schemas.microsoft.com/office/drawing/2014/main" id="{D034D7E8-272E-4312-A944-D5DBE39B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 ton attendu : prudent sans bloquer, concret sans être répétitif, actionnable sans agir seul.</a:t>
            </a:r>
          </a:p>
        </p:txBody>
      </p:sp>
    </p:spTree>
    <p:extLst>
      <p:ext uri="{BB962C8B-B14F-4D97-AF65-F5344CB8AC3E}">
        <p14:creationId xmlns:p14="http://schemas.microsoft.com/office/powerpoint/2010/main" val="331910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68C70E-084E-4FA3-A722-DD90A131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· DÉBRIEF FONCTIONNEL &amp; DEV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7CC276-E3BE-460C-9102-79E66257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8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Chaque réponse combine un message visible et une action typée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EA79637-2216-4318-83FB-CB4E4D8C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json">
            <a:extLst xmlns:a="http://schemas.openxmlformats.org/drawingml/2006/main">
              <a:ext uri="{FF2B5EF4-FFF2-40B4-BE49-F238E27FC236}">
                <a16:creationId xmlns:a16="http://schemas.microsoft.com/office/drawing/2014/main" id="{FAE8AC33-B585-42BD-A958-912B30B8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json-text">
            <a:extLst xmlns:a="http://schemas.openxmlformats.org/drawingml/2006/main">
              <a:ext uri="{FF2B5EF4-FFF2-40B4-BE49-F238E27FC236}">
                <a16:creationId xmlns:a16="http://schemas.microsoft.com/office/drawing/2014/main" id="{D3C852FC-C18A-4555-A04E-B503D2AC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238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CoachResponse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message: string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source: ai | openai | local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action: enum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objective_update?: {...}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session_index?: number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session_indexes?: liste de nombres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new_date?: YYYY-MM-DD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session_patch?: {...}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plan_adjustment?: enum</a:t>
            </a:r>
          </a:p>
          <a:p xmlns:a="http://schemas.openxmlformats.org/drawingml/2006/main">
            <a:pPr algn="l">
              <a:defRPr sz="1500" b="0">
                <a:solidFill>
                  <a:srgbClr val="EAF2E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AF2ED"/>
                </a:solidFill>
                <a:latin typeface="Arial"/>
                <a:ea typeface="Arial"/>
                <a:cs typeface="Arial"/>
              </a:rPr>
              <a:t>memory_updates: liste de textes</a:t>
            </a:r>
          </a:p>
        </p:txBody>
      </p:sp>
      <p:sp>
        <p:nvSpPr>
          <p:cNvPr id="6" name="actions-head">
            <a:extLst xmlns:a="http://schemas.openxmlformats.org/drawingml/2006/main">
              <a:ext uri="{FF2B5EF4-FFF2-40B4-BE49-F238E27FC236}">
                <a16:creationId xmlns:a16="http://schemas.microsoft.com/office/drawing/2014/main" id="{C2948B34-C284-4B00-9231-5B2C2093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ACTIONS DISPONIBLES</a:t>
            </a:r>
          </a:p>
        </p:txBody>
      </p:sp>
      <p:sp>
        <p:nvSpPr>
          <p:cNvPr id="7" name="a-num-0">
            <a:extLst xmlns:a="http://schemas.openxmlformats.org/drawingml/2006/main">
              <a:ext uri="{FF2B5EF4-FFF2-40B4-BE49-F238E27FC236}">
                <a16:creationId xmlns:a16="http://schemas.microsoft.com/office/drawing/2014/main" id="{2E5FE413-754F-4E4F-BFDF-725A1CB2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a-0">
            <a:extLst xmlns:a="http://schemas.openxmlformats.org/drawingml/2006/main">
              <a:ext uri="{FF2B5EF4-FFF2-40B4-BE49-F238E27FC236}">
                <a16:creationId xmlns:a16="http://schemas.microsoft.com/office/drawing/2014/main" id="{5AEE0FAF-AF20-41F4-8CD6-09B140E5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09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update_objective</a:t>
            </a:r>
          </a:p>
        </p:txBody>
      </p:sp>
      <p:sp>
        <p:nvSpPr>
          <p:cNvPr id="9" name="a-num-1">
            <a:extLst xmlns:a="http://schemas.openxmlformats.org/drawingml/2006/main">
              <a:ext uri="{FF2B5EF4-FFF2-40B4-BE49-F238E27FC236}">
                <a16:creationId xmlns:a16="http://schemas.microsoft.com/office/drawing/2014/main" id="{1C0D6BB2-6C12-4587-8B09-EABAA50A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a-1">
            <a:extLst xmlns:a="http://schemas.openxmlformats.org/drawingml/2006/main">
              <a:ext uri="{FF2B5EF4-FFF2-40B4-BE49-F238E27FC236}">
                <a16:creationId xmlns:a16="http://schemas.microsoft.com/office/drawing/2014/main" id="{39075CBD-EFB2-4548-886F-0FA0D8D3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24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create_plan / continue_existing_plan</a:t>
            </a:r>
          </a:p>
        </p:txBody>
      </p:sp>
      <p:sp>
        <p:nvSpPr>
          <p:cNvPr id="11" name="a-num-2">
            <a:extLst xmlns:a="http://schemas.openxmlformats.org/drawingml/2006/main">
              <a:ext uri="{FF2B5EF4-FFF2-40B4-BE49-F238E27FC236}">
                <a16:creationId xmlns:a16="http://schemas.microsoft.com/office/drawing/2014/main" id="{26AEC57F-47E7-4796-8D95-730ABDFC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a-2">
            <a:extLst xmlns:a="http://schemas.openxmlformats.org/drawingml/2006/main">
              <a:ext uri="{FF2B5EF4-FFF2-40B4-BE49-F238E27FC236}">
                <a16:creationId xmlns:a16="http://schemas.microsoft.com/office/drawing/2014/main" id="{4A47BFC1-B552-4739-95D2-3640F09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38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reschedule_session</a:t>
            </a:r>
          </a:p>
        </p:txBody>
      </p:sp>
      <p:sp>
        <p:nvSpPr>
          <p:cNvPr id="13" name="a-num-3">
            <a:extLst xmlns:a="http://schemas.openxmlformats.org/drawingml/2006/main">
              <a:ext uri="{FF2B5EF4-FFF2-40B4-BE49-F238E27FC236}">
                <a16:creationId xmlns:a16="http://schemas.microsoft.com/office/drawing/2014/main" id="{F4C2B2B2-FAF3-4849-AF60-86FA5FD9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a-3">
            <a:extLst xmlns:a="http://schemas.openxmlformats.org/drawingml/2006/main">
              <a:ext uri="{FF2B5EF4-FFF2-40B4-BE49-F238E27FC236}">
                <a16:creationId xmlns:a16="http://schemas.microsoft.com/office/drawing/2014/main" id="{DD8F3F18-468C-4D5B-9D7F-6BB80FB1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52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modify_session</a:t>
            </a:r>
          </a:p>
        </p:txBody>
      </p:sp>
      <p:sp>
        <p:nvSpPr>
          <p:cNvPr id="15" name="a-num-4">
            <a:extLst xmlns:a="http://schemas.openxmlformats.org/drawingml/2006/main">
              <a:ext uri="{FF2B5EF4-FFF2-40B4-BE49-F238E27FC236}">
                <a16:creationId xmlns:a16="http://schemas.microsoft.com/office/drawing/2014/main" id="{8B0EF9F8-B835-4EB1-BAC2-9554EFF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a-4">
            <a:extLst xmlns:a="http://schemas.openxmlformats.org/drawingml/2006/main">
              <a:ext uri="{FF2B5EF4-FFF2-40B4-BE49-F238E27FC236}">
                <a16:creationId xmlns:a16="http://schemas.microsoft.com/office/drawing/2014/main" id="{AA0747F1-93B8-42E3-89E0-8787B20B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67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delete_sessions</a:t>
            </a:r>
          </a:p>
        </p:txBody>
      </p:sp>
      <p:sp>
        <p:nvSpPr>
          <p:cNvPr id="17" name="a-num-5">
            <a:extLst xmlns:a="http://schemas.openxmlformats.org/drawingml/2006/main">
              <a:ext uri="{FF2B5EF4-FFF2-40B4-BE49-F238E27FC236}">
                <a16:creationId xmlns:a16="http://schemas.microsoft.com/office/drawing/2014/main" id="{E4840F0C-E59C-471E-B576-97E6E2A7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8" name="a-5">
            <a:extLst xmlns:a="http://schemas.openxmlformats.org/drawingml/2006/main">
              <a:ext uri="{FF2B5EF4-FFF2-40B4-BE49-F238E27FC236}">
                <a16:creationId xmlns:a16="http://schemas.microsoft.com/office/drawing/2014/main" id="{729F5A2C-E179-4602-8B09-CCE330DE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81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adapt_plan</a:t>
            </a:r>
          </a:p>
        </p:txBody>
      </p:sp>
      <p:sp>
        <p:nvSpPr>
          <p:cNvPr id="19" name="a-num-6">
            <a:extLst xmlns:a="http://schemas.openxmlformats.org/drawingml/2006/main">
              <a:ext uri="{FF2B5EF4-FFF2-40B4-BE49-F238E27FC236}">
                <a16:creationId xmlns:a16="http://schemas.microsoft.com/office/drawing/2014/main" id="{38C01ED3-9599-499D-B2FD-7F5D093B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0" name="a-6">
            <a:extLst xmlns:a="http://schemas.openxmlformats.org/drawingml/2006/main">
              <a:ext uri="{FF2B5EF4-FFF2-40B4-BE49-F238E27FC236}">
                <a16:creationId xmlns:a16="http://schemas.microsoft.com/office/drawing/2014/main" id="{763C9A0B-73A0-405B-957D-3B0E5D0E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none — discussion sans mutation</a:t>
            </a:r>
          </a:p>
        </p:txBody>
      </p:sp>
      <p:sp>
        <p:nvSpPr>
          <p:cNvPr id="21" name="schema-note">
            <a:extLst xmlns:a="http://schemas.openxmlformats.org/drawingml/2006/main">
              <a:ext uri="{FF2B5EF4-FFF2-40B4-BE49-F238E27FC236}">
                <a16:creationId xmlns:a16="http://schemas.microsoft.com/office/drawing/2014/main" id="{D03FCEFF-C60A-476A-92FC-19565062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57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Pydantic bloque les actions incomplètes avant qu’elles n’atteignent l’interface.</a:t>
            </a:r>
          </a:p>
        </p:txBody>
      </p:sp>
    </p:spTree>
    <p:extLst>
      <p:ext uri="{BB962C8B-B14F-4D97-AF65-F5344CB8AC3E}">
        <p14:creationId xmlns:p14="http://schemas.microsoft.com/office/powerpoint/2010/main" val="1670675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8742E2-3775-45AE-95E5-446B836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· DÉBRIEF FONCTIONNEL &amp; DEV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003453-C2E2-4807-A8E0-DFCC0BCA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Un clic doit maintenant produire un résultat visible — sans faux message utilisateur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CB5FE6F-F158-4F26-99CE-C8D0D993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0" name="c-0"/>
          <p:cNvCxnSpPr/>
          <p:nvPr/>
        </p:nvCxnSpPr>
        <p:spPr>
          <a:xfrm xmlns:a="http://schemas.openxmlformats.org/drawingml/2006/main">
            <a:off x="2667000" y="3295650"/>
            <a:ext cx="4857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A52"/>
            </a:solidFill>
            <a:prstDash val="solid"/>
          </a:ln>
        </p:spPr>
      </p:cxnSp>
      <p:cxnSp>
        <p:nvCxnSpPr>
          <p:cNvPr id="21" name="c-1"/>
          <p:cNvCxnSpPr/>
          <p:nvPr/>
        </p:nvCxnSpPr>
        <p:spPr>
          <a:xfrm xmlns:a="http://schemas.openxmlformats.org/drawingml/2006/main">
            <a:off x="5381625" y="3295650"/>
            <a:ext cx="4857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A52"/>
            </a:solidFill>
            <a:prstDash val="solid"/>
          </a:ln>
        </p:spPr>
      </p:cxnSp>
      <p:cxnSp>
        <p:nvCxnSpPr>
          <p:cNvPr id="22" name="c-2"/>
          <p:cNvCxnSpPr/>
          <p:nvPr/>
        </p:nvCxnSpPr>
        <p:spPr>
          <a:xfrm xmlns:a="http://schemas.openxmlformats.org/drawingml/2006/main">
            <a:off x="8096250" y="3295650"/>
            <a:ext cx="4857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A52"/>
            </a:solidFill>
            <a:prstDash val="solid"/>
          </a:ln>
        </p:spPr>
      </p:cxnSp>
      <p:sp>
        <p:nvSpPr>
          <p:cNvPr id="7" name="cf-head-0">
            <a:extLst xmlns:a="http://schemas.openxmlformats.org/drawingml/2006/main">
              <a:ext uri="{FF2B5EF4-FFF2-40B4-BE49-F238E27FC236}">
                <a16:creationId xmlns:a16="http://schemas.microsoft.com/office/drawing/2014/main" id="{7E1B5983-E7DE-4EA2-8129-A90066A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PROPOSITION IA</a:t>
            </a:r>
          </a:p>
        </p:txBody>
      </p:sp>
      <p:sp>
        <p:nvSpPr>
          <p:cNvPr id="8" name="cf-body-0">
            <a:extLst xmlns:a="http://schemas.openxmlformats.org/drawingml/2006/main">
              <a:ext uri="{FF2B5EF4-FFF2-40B4-BE49-F238E27FC236}">
                <a16:creationId xmlns:a16="http://schemas.microsoft.com/office/drawing/2014/main" id="{C4BC75FF-6D58-4E93-8BC7-D575284D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Ex. retirer quatre séances et garder uniquement le test du mercredi.</a:t>
            </a:r>
          </a:p>
        </p:txBody>
      </p:sp>
      <p:sp>
        <p:nvSpPr>
          <p:cNvPr id="9" name="cf-head-1">
            <a:extLst xmlns:a="http://schemas.openxmlformats.org/drawingml/2006/main">
              <a:ext uri="{FF2B5EF4-FFF2-40B4-BE49-F238E27FC236}">
                <a16:creationId xmlns:a16="http://schemas.microsoft.com/office/drawing/2014/main" id="{706A7A6C-6AA6-442F-B884-61B959E5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BOUTON EXPLICITE</a:t>
            </a:r>
          </a:p>
        </p:txBody>
      </p:sp>
      <p:sp>
        <p:nvSpPr>
          <p:cNvPr id="10" name="cf-body-1">
            <a:extLst xmlns:a="http://schemas.openxmlformats.org/drawingml/2006/main">
              <a:ext uri="{FF2B5EF4-FFF2-40B4-BE49-F238E27FC236}">
                <a16:creationId xmlns:a16="http://schemas.microsoft.com/office/drawing/2014/main" id="{CD13A74C-9FBC-463E-9E20-BDC96CF6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241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« Retirer ces séances » ou « Accepter cette séance ».</a:t>
            </a:r>
          </a:p>
        </p:txBody>
      </p:sp>
      <p:sp>
        <p:nvSpPr>
          <p:cNvPr id="11" name="cf-head-2">
            <a:extLst xmlns:a="http://schemas.openxmlformats.org/drawingml/2006/main">
              <a:ext uri="{FF2B5EF4-FFF2-40B4-BE49-F238E27FC236}">
                <a16:creationId xmlns:a16="http://schemas.microsoft.com/office/drawing/2014/main" id="{14E4EAAB-7F20-43FF-9926-E29F21A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ÉTAT IMMÉDIAT</a:t>
            </a:r>
          </a:p>
        </p:txBody>
      </p:sp>
      <p:sp>
        <p:nvSpPr>
          <p:cNvPr id="12" name="cf-body-2">
            <a:extLst xmlns:a="http://schemas.openxmlformats.org/drawingml/2006/main">
              <a:ext uri="{FF2B5EF4-FFF2-40B4-BE49-F238E27FC236}">
                <a16:creationId xmlns:a16="http://schemas.microsoft.com/office/drawing/2014/main" id="{91DD1BC0-3837-4E32-94A9-289F6A55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Le bouton devient « Application en cours… » pendant l’appel serveur.</a:t>
            </a:r>
          </a:p>
        </p:txBody>
      </p:sp>
      <p:sp>
        <p:nvSpPr>
          <p:cNvPr id="13" name="cf-head-3">
            <a:extLst xmlns:a="http://schemas.openxmlformats.org/drawingml/2006/main">
              <a:ext uri="{FF2B5EF4-FFF2-40B4-BE49-F238E27FC236}">
                <a16:creationId xmlns:a16="http://schemas.microsoft.com/office/drawing/2014/main" id="{AF104C08-569B-4C64-BCEB-73D951BA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RÉSULTAT</a:t>
            </a:r>
          </a:p>
        </p:txBody>
      </p:sp>
      <p:sp>
        <p:nvSpPr>
          <p:cNvPr id="14" name="cf-body-3">
            <a:extLst xmlns:a="http://schemas.openxmlformats.org/drawingml/2006/main">
              <a:ext uri="{FF2B5EF4-FFF2-40B4-BE49-F238E27FC236}">
                <a16:creationId xmlns:a16="http://schemas.microsoft.com/office/drawing/2014/main" id="{F5E6A05C-2E6D-467E-AAA3-94941B72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2415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511"/>
                </a:solidFill>
                <a:latin typeface="Arial"/>
                <a:ea typeface="Arial"/>
                <a:cs typeface="Arial"/>
              </a:rPr>
              <a:t>Le plan local et Garmin sont mis à jour, puis le statut affiche le bilan.</a:t>
            </a:r>
          </a:p>
        </p:txBody>
      </p:sp>
      <p:sp>
        <p:nvSpPr>
          <p:cNvPr id="15" name="no-fake">
            <a:extLst xmlns:a="http://schemas.openxmlformats.org/drawingml/2006/main">
              <a:ext uri="{FF2B5EF4-FFF2-40B4-BE49-F238E27FC236}">
                <a16:creationId xmlns:a16="http://schemas.microsoft.com/office/drawing/2014/main" id="{6026560A-7EA7-46DB-9E5A-739C8B5D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-fake-text">
            <a:extLst xmlns:a="http://schemas.openxmlformats.org/drawingml/2006/main">
              <a:ext uri="{FF2B5EF4-FFF2-40B4-BE49-F238E27FC236}">
                <a16:creationId xmlns:a16="http://schemas.microsoft.com/office/drawing/2014/main" id="{3F0FCC43-DBD4-460A-9DAE-0313B0CE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3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Supprimé : « J’accepte cette proposition… » écrit automatiquement dans le chat, suivi d’une nouvelle réponse IA répétitive.</a:t>
            </a:r>
          </a:p>
        </p:txBody>
      </p:sp>
    </p:spTree>
    <p:extLst>
      <p:ext uri="{BB962C8B-B14F-4D97-AF65-F5344CB8AC3E}">
        <p14:creationId xmlns:p14="http://schemas.microsoft.com/office/powerpoint/2010/main" val="871716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0CBEEB9-F894-4567-9B91-B7B93BC8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· DÉBRIEF FONCTIONNEL &amp; DEV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85E2C4-ED9B-4296-95F8-9053BBE3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Côté développeur, six modules portent l’essentiel du comportement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BBEADC1-CDDE-4C9D-9093-55E9533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31" name="d1"/>
          <p:cNvCxnSpPr/>
          <p:nvPr/>
        </p:nvCxnSpPr>
        <p:spPr>
          <a:xfrm xmlns:a="http://schemas.openxmlformats.org/drawingml/2006/main">
            <a:off x="2762250" y="2905125"/>
            <a:ext cx="1666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2BC"/>
            </a:solidFill>
            <a:prstDash val="solid"/>
          </a:ln>
        </p:spPr>
      </p:cxnSp>
      <p:cxnSp>
        <p:nvCxnSpPr>
          <p:cNvPr id="32" name="d2"/>
          <p:cNvCxnSpPr/>
          <p:nvPr/>
        </p:nvCxnSpPr>
        <p:spPr>
          <a:xfrm xmlns:a="http://schemas.openxmlformats.org/drawingml/2006/main">
            <a:off x="7096125" y="2905125"/>
            <a:ext cx="1666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2BC"/>
            </a:solidFill>
            <a:prstDash val="solid"/>
          </a:ln>
        </p:spPr>
      </p:cxnSp>
      <p:cxnSp>
        <p:nvCxnSpPr>
          <p:cNvPr id="33" name="d3"/>
          <p:cNvCxnSpPr/>
          <p:nvPr/>
        </p:nvCxnSpPr>
        <p:spPr>
          <a:xfrm xmlns:a="http://schemas.openxmlformats.org/drawingml/2006/main">
            <a:off x="10287000" y="3619500"/>
            <a:ext cx="952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2BC"/>
            </a:solidFill>
            <a:prstDash val="solid"/>
          </a:ln>
        </p:spPr>
      </p:cxnSp>
      <p:cxnSp>
        <p:nvCxnSpPr>
          <p:cNvPr id="34" name="d4"/>
          <p:cNvCxnSpPr/>
          <p:nvPr/>
        </p:nvCxnSpPr>
        <p:spPr>
          <a:xfrm xmlns:a="http://schemas.openxmlformats.org/drawingml/2006/main">
            <a:off x="7096125" y="5143500"/>
            <a:ext cx="1666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2BC"/>
            </a:solidFill>
            <a:prstDash val="solid"/>
          </a:ln>
        </p:spPr>
      </p:cxnSp>
      <p:cxnSp>
        <p:nvCxnSpPr>
          <p:cNvPr id="35" name="d5"/>
          <p:cNvCxnSpPr/>
          <p:nvPr/>
        </p:nvCxnSpPr>
        <p:spPr>
          <a:xfrm xmlns:a="http://schemas.openxmlformats.org/drawingml/2006/main">
            <a:off x="2762250" y="5143500"/>
            <a:ext cx="1666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2BC"/>
            </a:solidFill>
            <a:prstDash val="solid"/>
          </a:ln>
        </p:spPr>
      </p:cxnSp>
      <p:sp>
        <p:nvSpPr>
          <p:cNvPr id="9" name="dev-0">
            <a:extLst xmlns:a="http://schemas.openxmlformats.org/drawingml/2006/main">
              <a:ext uri="{FF2B5EF4-FFF2-40B4-BE49-F238E27FC236}">
                <a16:creationId xmlns:a16="http://schemas.microsoft.com/office/drawing/2014/main" id="{A31467A0-1C57-408F-BBFF-FF9238B1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vh-0">
            <a:extLst xmlns:a="http://schemas.openxmlformats.org/drawingml/2006/main">
              <a:ext uri="{FF2B5EF4-FFF2-40B4-BE49-F238E27FC236}">
                <a16:creationId xmlns:a16="http://schemas.microsoft.com/office/drawing/2014/main" id="{AAE63F20-B94C-4463-A5EE-37DE5A2D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landing.html</a:t>
            </a:r>
          </a:p>
        </p:txBody>
      </p:sp>
      <p:sp>
        <p:nvSpPr>
          <p:cNvPr id="11" name="devb-0">
            <a:extLst xmlns:a="http://schemas.openxmlformats.org/drawingml/2006/main">
              <a:ext uri="{FF2B5EF4-FFF2-40B4-BE49-F238E27FC236}">
                <a16:creationId xmlns:a16="http://schemas.microsoft.com/office/drawing/2014/main" id="{8782AB14-4DFC-4124-80E2-1AE48DCA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Connexion et saisie MFA</a:t>
            </a:r>
          </a:p>
        </p:txBody>
      </p:sp>
      <p:sp>
        <p:nvSpPr>
          <p:cNvPr id="12" name="dev-1">
            <a:extLst xmlns:a="http://schemas.openxmlformats.org/drawingml/2006/main">
              <a:ext uri="{FF2B5EF4-FFF2-40B4-BE49-F238E27FC236}">
                <a16:creationId xmlns:a16="http://schemas.microsoft.com/office/drawing/2014/main" id="{AA43A370-BD9C-46A3-8A0D-931C7A19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vh-1">
            <a:extLst xmlns:a="http://schemas.openxmlformats.org/drawingml/2006/main">
              <a:ext uri="{FF2B5EF4-FFF2-40B4-BE49-F238E27FC236}">
                <a16:creationId xmlns:a16="http://schemas.microsoft.com/office/drawing/2014/main" id="{89A0B16F-979D-4AE5-BF32-0EEF1ED8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dashboard.py</a:t>
            </a:r>
          </a:p>
        </p:txBody>
      </p:sp>
      <p:sp>
        <p:nvSpPr>
          <p:cNvPr id="14" name="devb-1">
            <a:extLst xmlns:a="http://schemas.openxmlformats.org/drawingml/2006/main">
              <a:ext uri="{FF2B5EF4-FFF2-40B4-BE49-F238E27FC236}">
                <a16:creationId xmlns:a16="http://schemas.microsoft.com/office/drawing/2014/main" id="{631FEAEE-A27F-4792-A91F-30C0E9B5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146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API, contexte, exécution</a:t>
            </a:r>
          </a:p>
        </p:txBody>
      </p:sp>
      <p:sp>
        <p:nvSpPr>
          <p:cNvPr id="15" name="dev-2">
            <a:extLst xmlns:a="http://schemas.openxmlformats.org/drawingml/2006/main">
              <a:ext uri="{FF2B5EF4-FFF2-40B4-BE49-F238E27FC236}">
                <a16:creationId xmlns:a16="http://schemas.microsoft.com/office/drawing/2014/main" id="{602314FB-DFE9-409C-AEF0-EAD4E868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vh-2">
            <a:extLst xmlns:a="http://schemas.openxmlformats.org/drawingml/2006/main">
              <a:ext uri="{FF2B5EF4-FFF2-40B4-BE49-F238E27FC236}">
                <a16:creationId xmlns:a16="http://schemas.microsoft.com/office/drawing/2014/main" id="{EC20AACD-E370-44F8-AB19-4DA5C12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coach_chat.py</a:t>
            </a:r>
          </a:p>
        </p:txBody>
      </p:sp>
      <p:sp>
        <p:nvSpPr>
          <p:cNvPr id="17" name="devb-2">
            <a:extLst xmlns:a="http://schemas.openxmlformats.org/drawingml/2006/main">
              <a:ext uri="{FF2B5EF4-FFF2-40B4-BE49-F238E27FC236}">
                <a16:creationId xmlns:a16="http://schemas.microsoft.com/office/drawing/2014/main" id="{CE3404E6-7F92-4D87-A8C8-C416564E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146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Prompt + schéma de réponse</a:t>
            </a:r>
          </a:p>
        </p:txBody>
      </p:sp>
      <p:sp>
        <p:nvSpPr>
          <p:cNvPr id="18" name="dev-3">
            <a:extLst xmlns:a="http://schemas.openxmlformats.org/drawingml/2006/main">
              <a:ext uri="{FF2B5EF4-FFF2-40B4-BE49-F238E27FC236}">
                <a16:creationId xmlns:a16="http://schemas.microsoft.com/office/drawing/2014/main" id="{5AF256C0-E6D8-4A28-89B7-98CF450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vh-3">
            <a:extLst xmlns:a="http://schemas.openxmlformats.org/drawingml/2006/main">
              <a:ext uri="{FF2B5EF4-FFF2-40B4-BE49-F238E27FC236}">
                <a16:creationId xmlns:a16="http://schemas.microsoft.com/office/drawing/2014/main" id="{41042767-4B0A-4008-A0AD-D9A3C7A9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910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dashboard_v2.html</a:t>
            </a:r>
          </a:p>
        </p:txBody>
      </p:sp>
      <p:sp>
        <p:nvSpPr>
          <p:cNvPr id="20" name="devb-3">
            <a:extLst xmlns:a="http://schemas.openxmlformats.org/drawingml/2006/main">
              <a:ext uri="{FF2B5EF4-FFF2-40B4-BE49-F238E27FC236}">
                <a16:creationId xmlns:a16="http://schemas.microsoft.com/office/drawing/2014/main" id="{5DEC8C8F-85D5-4D25-9D66-4C1B5539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435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Chat, boutons et états</a:t>
            </a:r>
          </a:p>
        </p:txBody>
      </p:sp>
      <p:sp>
        <p:nvSpPr>
          <p:cNvPr id="21" name="dev-4">
            <a:extLst xmlns:a="http://schemas.openxmlformats.org/drawingml/2006/main">
              <a:ext uri="{FF2B5EF4-FFF2-40B4-BE49-F238E27FC236}">
                <a16:creationId xmlns:a16="http://schemas.microsoft.com/office/drawing/2014/main" id="{C1B22CDF-661B-423A-9817-461E2445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vh-4">
            <a:extLst xmlns:a="http://schemas.openxmlformats.org/drawingml/2006/main">
              <a:ext uri="{FF2B5EF4-FFF2-40B4-BE49-F238E27FC236}">
                <a16:creationId xmlns:a16="http://schemas.microsoft.com/office/drawing/2014/main" id="{09B4DA7D-C0D3-48BC-925F-7483F9B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910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garmin_workouts.py</a:t>
            </a:r>
          </a:p>
        </p:txBody>
      </p:sp>
      <p:sp>
        <p:nvSpPr>
          <p:cNvPr id="23" name="devb-4">
            <a:extLst xmlns:a="http://schemas.openxmlformats.org/drawingml/2006/main">
              <a:ext uri="{FF2B5EF4-FFF2-40B4-BE49-F238E27FC236}">
                <a16:creationId xmlns:a16="http://schemas.microsoft.com/office/drawing/2014/main" id="{93A5F49A-AA75-45B1-A16A-D2CB38CC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435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Publier, remplacer, retirer</a:t>
            </a:r>
          </a:p>
        </p:txBody>
      </p:sp>
      <p:sp>
        <p:nvSpPr>
          <p:cNvPr id="24" name="dev-5">
            <a:extLst xmlns:a="http://schemas.openxmlformats.org/drawingml/2006/main">
              <a:ext uri="{FF2B5EF4-FFF2-40B4-BE49-F238E27FC236}">
                <a16:creationId xmlns:a16="http://schemas.microsoft.com/office/drawing/2014/main" id="{71A6D951-EBB0-44A8-9AF1-91BAC595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vh-5">
            <a:extLst xmlns:a="http://schemas.openxmlformats.org/drawingml/2006/main">
              <a:ext uri="{FF2B5EF4-FFF2-40B4-BE49-F238E27FC236}">
                <a16:creationId xmlns:a16="http://schemas.microsoft.com/office/drawing/2014/main" id="{71D2DFCD-BF08-49DB-95AA-ECE6FCB5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onboarding.py</a:t>
            </a:r>
          </a:p>
        </p:txBody>
      </p:sp>
      <p:sp>
        <p:nvSpPr>
          <p:cNvPr id="26" name="devb-5">
            <a:extLst xmlns:a="http://schemas.openxmlformats.org/drawingml/2006/main">
              <a:ext uri="{FF2B5EF4-FFF2-40B4-BE49-F238E27FC236}">
                <a16:creationId xmlns:a16="http://schemas.microsoft.com/office/drawing/2014/main" id="{22C22C6A-0ABC-4F5F-8C72-C74286BA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Inspection et machine d’états</a:t>
            </a:r>
          </a:p>
        </p:txBody>
      </p:sp>
      <p:sp>
        <p:nvSpPr>
          <p:cNvPr id="27" name="dev-read">
            <a:extLst xmlns:a="http://schemas.openxmlformats.org/drawingml/2006/main">
              <a:ext uri="{FF2B5EF4-FFF2-40B4-BE49-F238E27FC236}">
                <a16:creationId xmlns:a16="http://schemas.microsoft.com/office/drawing/2014/main" id="{A65321EB-6431-4AA5-AB84-71500A33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Lecture rapide : l’IA ne touche jamais Garmin directement ; dashboard.py fait l’arbitrage.</a:t>
            </a:r>
          </a:p>
        </p:txBody>
      </p:sp>
    </p:spTree>
    <p:extLst>
      <p:ext uri="{BB962C8B-B14F-4D97-AF65-F5344CB8AC3E}">
        <p14:creationId xmlns:p14="http://schemas.microsoft.com/office/powerpoint/2010/main" val="346014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C30A70-2F83-46A0-B48E-939FC404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MOTIONEST · DÉBRIEF FONCTIONNEL &amp; DEV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FD6004-BD42-4615-9422-7908D4E8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70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Pour déboguer une réponse, vérifie ces quatre couches dans l’ordre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3942ABD-2AC5-4F2E-A939-EA1CD049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9C6F3AB6-39CA-42D2-A36A-D9BE61DA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h-0">
            <a:extLst xmlns:a="http://schemas.openxmlformats.org/drawingml/2006/main">
              <a:ext uri="{FF2B5EF4-FFF2-40B4-BE49-F238E27FC236}">
                <a16:creationId xmlns:a16="http://schemas.microsoft.com/office/drawing/2014/main" id="{2D02928D-9129-4546-9284-E4691538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CONTEXTE</a:t>
            </a:r>
          </a:p>
        </p:txBody>
      </p:sp>
      <p:sp>
        <p:nvSpPr>
          <p:cNvPr id="6" name="cb-0">
            <a:extLst xmlns:a="http://schemas.openxmlformats.org/drawingml/2006/main">
              <a:ext uri="{FF2B5EF4-FFF2-40B4-BE49-F238E27FC236}">
                <a16:creationId xmlns:a16="http://schemas.microsoft.com/office/drawing/2014/main" id="{CF8325E1-C735-4696-A0DD-A5D24152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Le plan actif, la date et la mémoire transmis à l’IA sont-ils exacts ?</a:t>
            </a:r>
          </a:p>
        </p:txBody>
      </p:sp>
      <p:sp>
        <p:nvSpPr>
          <p:cNvPr id="7" name="line-0">
            <a:extLst xmlns:a="http://schemas.openxmlformats.org/drawingml/2006/main">
              <a:ext uri="{FF2B5EF4-FFF2-40B4-BE49-F238E27FC236}">
                <a16:creationId xmlns:a16="http://schemas.microsoft.com/office/drawing/2014/main" id="{2D6A8AD7-473C-4A44-9EB7-19DA8525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A8559ACF-23E5-46DB-80FF-2DF4BF25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-1">
            <a:extLst xmlns:a="http://schemas.openxmlformats.org/drawingml/2006/main">
              <a:ext uri="{FF2B5EF4-FFF2-40B4-BE49-F238E27FC236}">
                <a16:creationId xmlns:a16="http://schemas.microsoft.com/office/drawing/2014/main" id="{2AD4B3D9-1830-46C0-8C2F-82B99F28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05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0" name="cb-1">
            <a:extLst xmlns:a="http://schemas.openxmlformats.org/drawingml/2006/main">
              <a:ext uri="{FF2B5EF4-FFF2-40B4-BE49-F238E27FC236}">
                <a16:creationId xmlns:a16="http://schemas.microsoft.com/office/drawing/2014/main" id="{A56FAFA3-98C4-4B65-AECB-E3A42180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Le prompt autorise-t-il clairement l’action demandée sans confirmations répétées ?</a:t>
            </a:r>
          </a:p>
        </p:txBody>
      </p:sp>
      <p:sp>
        <p:nvSpPr>
          <p:cNvPr id="11" name="line-1">
            <a:extLst xmlns:a="http://schemas.openxmlformats.org/drawingml/2006/main">
              <a:ext uri="{FF2B5EF4-FFF2-40B4-BE49-F238E27FC236}">
                <a16:creationId xmlns:a16="http://schemas.microsoft.com/office/drawing/2014/main" id="{2834AB25-9524-470E-99EC-3A355DFE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90103C7D-A1BA-42EB-8D8B-A1DA9D29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h-2">
            <a:extLst xmlns:a="http://schemas.openxmlformats.org/drawingml/2006/main">
              <a:ext uri="{FF2B5EF4-FFF2-40B4-BE49-F238E27FC236}">
                <a16:creationId xmlns:a16="http://schemas.microsoft.com/office/drawing/2014/main" id="{B831E0B5-195D-485D-AA63-EA43EC2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SCHÉMA</a:t>
            </a:r>
          </a:p>
        </p:txBody>
      </p:sp>
      <p:sp>
        <p:nvSpPr>
          <p:cNvPr id="14" name="cb-2">
            <a:extLst xmlns:a="http://schemas.openxmlformats.org/drawingml/2006/main">
              <a:ext uri="{FF2B5EF4-FFF2-40B4-BE49-F238E27FC236}">
                <a16:creationId xmlns:a16="http://schemas.microsoft.com/office/drawing/2014/main" id="{8B83A983-CD2F-4EA1-8E15-734E4493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CoachResponse contient-il les index, la date ou le patch nécessaires ?</a:t>
            </a:r>
          </a:p>
        </p:txBody>
      </p:sp>
      <p:sp>
        <p:nvSpPr>
          <p:cNvPr id="15" name="line-2">
            <a:extLst xmlns:a="http://schemas.openxmlformats.org/drawingml/2006/main">
              <a:ext uri="{FF2B5EF4-FFF2-40B4-BE49-F238E27FC236}">
                <a16:creationId xmlns:a16="http://schemas.microsoft.com/office/drawing/2014/main" id="{CDA08278-DC4E-4F8F-923A-53B95EF2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3">
            <a:extLst xmlns:a="http://schemas.openxmlformats.org/drawingml/2006/main">
              <a:ext uri="{FF2B5EF4-FFF2-40B4-BE49-F238E27FC236}">
                <a16:creationId xmlns:a16="http://schemas.microsoft.com/office/drawing/2014/main" id="{F27364C2-2B30-47B1-B7D0-1FC3C5CD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ch-3">
            <a:extLst xmlns:a="http://schemas.openxmlformats.org/drawingml/2006/main">
              <a:ext uri="{FF2B5EF4-FFF2-40B4-BE49-F238E27FC236}">
                <a16:creationId xmlns:a16="http://schemas.microsoft.com/office/drawing/2014/main" id="{7CE30C74-7C0F-49AF-9C4E-A383C95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5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511"/>
                </a:solidFill>
                <a:latin typeface="Arial"/>
                <a:ea typeface="Arial"/>
                <a:cs typeface="Arial"/>
              </a:rPr>
              <a:t>EXÉCUTION</a:t>
            </a:r>
          </a:p>
        </p:txBody>
      </p:sp>
      <p:sp>
        <p:nvSpPr>
          <p:cNvPr id="18" name="cb-3">
            <a:extLst xmlns:a="http://schemas.openxmlformats.org/drawingml/2006/main">
              <a:ext uri="{FF2B5EF4-FFF2-40B4-BE49-F238E27FC236}">
                <a16:creationId xmlns:a16="http://schemas.microsoft.com/office/drawing/2014/main" id="{19EADB45-B250-4613-AC47-0434CB66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4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45F"/>
                </a:solidFill>
                <a:latin typeface="Arial"/>
                <a:ea typeface="Arial"/>
                <a:cs typeface="Arial"/>
              </a:rPr>
              <a:t>Le bouton appelle-t-il la bonne route et le serveur met-il à jour local + Garmin ?</a:t>
            </a:r>
          </a:p>
        </p:txBody>
      </p:sp>
      <p:sp>
        <p:nvSpPr>
          <p:cNvPr id="19" name="line-3">
            <a:extLst xmlns:a="http://schemas.openxmlformats.org/drawingml/2006/main">
              <a:ext uri="{FF2B5EF4-FFF2-40B4-BE49-F238E27FC236}">
                <a16:creationId xmlns:a16="http://schemas.microsoft.com/office/drawing/2014/main" id="{61868BEB-E04B-474C-AF0C-2B32CB3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inal">
            <a:extLst xmlns:a="http://schemas.openxmlformats.org/drawingml/2006/main">
              <a:ext uri="{FF2B5EF4-FFF2-40B4-BE49-F238E27FC236}">
                <a16:creationId xmlns:a16="http://schemas.microsoft.com/office/drawing/2014/main" id="{ACDACE90-46AC-4049-A8DA-FECA3133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inal-text">
            <a:extLst xmlns:a="http://schemas.openxmlformats.org/drawingml/2006/main">
              <a:ext uri="{FF2B5EF4-FFF2-40B4-BE49-F238E27FC236}">
                <a16:creationId xmlns:a16="http://schemas.microsoft.com/office/drawing/2014/main" id="{A8A9FD08-C9BF-4339-8EB0-2F189A91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995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 comportement final dépend autant du prompt que du schéma et du code d’exécution.</a:t>
            </a:r>
          </a:p>
        </p:txBody>
      </p:sp>
    </p:spTree>
    <p:extLst>
      <p:ext uri="{BB962C8B-B14F-4D97-AF65-F5344CB8AC3E}">
        <p14:creationId xmlns:p14="http://schemas.microsoft.com/office/powerpoint/2010/main" val="1243368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2026-08-22T14:58:03.6090000Z</dcterms:created>
  <dcterms:modified xsi:type="dcterms:W3CDTF">2026-08-22T14:58:03.6090000Z</dcterms:modified>
</coreProperties>
</file>